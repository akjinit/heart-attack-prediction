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9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</p:sldIdLst>
  <p:sldSz cx="18288000" cy="10287000"/>
  <p:notesSz cx="6858000" cy="9144000"/>
  <p:embeddedFontLst>
    <p:embeddedFont>
      <p:font typeface="Canva Sans Bold" panose="020B0604020202020204" charset="0"/>
      <p:regular r:id="rId24"/>
    </p:embeddedFont>
    <p:embeddedFont>
      <p:font typeface="Georgia Pro Condensed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ggle/docker-python" TargetMode="External"/><Relationship Id="rId2" Type="http://schemas.openxmlformats.org/officeDocument/2006/relationships/hyperlink" Target="https://doi.org/10.1161/CIRCRESAHA.116.30403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996387"/>
            <a:ext cx="6872179" cy="458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71"/>
              </a:lnSpc>
            </a:pPr>
            <a:r>
              <a:rPr lang="en-US" sz="655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Cardiac Arrest Prediction Using Machine Learning</a:t>
            </a:r>
          </a:p>
        </p:txBody>
      </p:sp>
      <p:sp>
        <p:nvSpPr>
          <p:cNvPr id="3" name="Freeform 3"/>
          <p:cNvSpPr/>
          <p:nvPr/>
        </p:nvSpPr>
        <p:spPr>
          <a:xfrm>
            <a:off x="9144000" y="2489190"/>
            <a:ext cx="8579697" cy="5715870"/>
          </a:xfrm>
          <a:custGeom>
            <a:avLst/>
            <a:gdLst/>
            <a:ahLst/>
            <a:cxnLst/>
            <a:rect l="l" t="t" r="r" b="b"/>
            <a:pathLst>
              <a:path w="8579697" h="5715870">
                <a:moveTo>
                  <a:pt x="0" y="0"/>
                </a:moveTo>
                <a:lnTo>
                  <a:pt x="8579697" y="0"/>
                </a:lnTo>
                <a:lnTo>
                  <a:pt x="8579697" y="5715870"/>
                </a:lnTo>
                <a:lnTo>
                  <a:pt x="0" y="571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750" y="9903796"/>
            <a:ext cx="16954500" cy="0"/>
          </a:xfrm>
          <a:prstGeom prst="line">
            <a:avLst/>
          </a:prstGeom>
          <a:ln w="9525" cap="flat">
            <a:solidFill>
              <a:srgbClr val="E0E9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8177490"/>
            <a:ext cx="1447523" cy="1447523"/>
          </a:xfrm>
          <a:custGeom>
            <a:avLst/>
            <a:gdLst/>
            <a:ahLst/>
            <a:cxnLst/>
            <a:rect l="l" t="t" r="r" b="b"/>
            <a:pathLst>
              <a:path w="1447523" h="1447523">
                <a:moveTo>
                  <a:pt x="0" y="0"/>
                </a:moveTo>
                <a:lnTo>
                  <a:pt x="1447523" y="0"/>
                </a:lnTo>
                <a:lnTo>
                  <a:pt x="1447523" y="1447522"/>
                </a:lnTo>
                <a:lnTo>
                  <a:pt x="0" y="1447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5620620" y="476923"/>
            <a:ext cx="12667380" cy="1170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6"/>
              </a:lnSpc>
              <a:spcBef>
                <a:spcPct val="0"/>
              </a:spcBef>
            </a:pPr>
            <a:r>
              <a:rPr lang="en-US" sz="8142" b="1" u="none" strike="noStrike">
                <a:solidFill>
                  <a:srgbClr val="E0E9F3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Project Team</a:t>
            </a:r>
          </a:p>
        </p:txBody>
      </p:sp>
      <p:sp>
        <p:nvSpPr>
          <p:cNvPr id="5" name="Freeform 5"/>
          <p:cNvSpPr/>
          <p:nvPr/>
        </p:nvSpPr>
        <p:spPr>
          <a:xfrm>
            <a:off x="754279" y="2724798"/>
            <a:ext cx="8010368" cy="1456431"/>
          </a:xfrm>
          <a:custGeom>
            <a:avLst/>
            <a:gdLst/>
            <a:ahLst/>
            <a:cxnLst/>
            <a:rect l="l" t="t" r="r" b="b"/>
            <a:pathLst>
              <a:path w="8010368" h="1456431">
                <a:moveTo>
                  <a:pt x="0" y="0"/>
                </a:moveTo>
                <a:lnTo>
                  <a:pt x="8010368" y="0"/>
                </a:lnTo>
                <a:lnTo>
                  <a:pt x="8010368" y="1456430"/>
                </a:lnTo>
                <a:lnTo>
                  <a:pt x="0" y="1456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28450" y="2724798"/>
            <a:ext cx="8010368" cy="1456431"/>
          </a:xfrm>
          <a:custGeom>
            <a:avLst/>
            <a:gdLst/>
            <a:ahLst/>
            <a:cxnLst/>
            <a:rect l="l" t="t" r="r" b="b"/>
            <a:pathLst>
              <a:path w="8010368" h="1456431">
                <a:moveTo>
                  <a:pt x="0" y="0"/>
                </a:moveTo>
                <a:lnTo>
                  <a:pt x="8010369" y="0"/>
                </a:lnTo>
                <a:lnTo>
                  <a:pt x="8010369" y="1456430"/>
                </a:lnTo>
                <a:lnTo>
                  <a:pt x="0" y="1456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28450" y="5632852"/>
            <a:ext cx="8010368" cy="1456431"/>
          </a:xfrm>
          <a:custGeom>
            <a:avLst/>
            <a:gdLst/>
            <a:ahLst/>
            <a:cxnLst/>
            <a:rect l="l" t="t" r="r" b="b"/>
            <a:pathLst>
              <a:path w="8010368" h="1456431">
                <a:moveTo>
                  <a:pt x="0" y="0"/>
                </a:moveTo>
                <a:lnTo>
                  <a:pt x="8010369" y="0"/>
                </a:lnTo>
                <a:lnTo>
                  <a:pt x="8010369" y="1456430"/>
                </a:lnTo>
                <a:lnTo>
                  <a:pt x="0" y="1456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54279" y="5632852"/>
            <a:ext cx="8010368" cy="1456431"/>
          </a:xfrm>
          <a:custGeom>
            <a:avLst/>
            <a:gdLst/>
            <a:ahLst/>
            <a:cxnLst/>
            <a:rect l="l" t="t" r="r" b="b"/>
            <a:pathLst>
              <a:path w="8010368" h="1456431">
                <a:moveTo>
                  <a:pt x="0" y="0"/>
                </a:moveTo>
                <a:lnTo>
                  <a:pt x="8010368" y="0"/>
                </a:lnTo>
                <a:lnTo>
                  <a:pt x="8010368" y="1456430"/>
                </a:lnTo>
                <a:lnTo>
                  <a:pt x="0" y="1456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34409" y="3138865"/>
            <a:ext cx="7662734" cy="637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3"/>
              </a:lnSpc>
              <a:spcBef>
                <a:spcPct val="0"/>
              </a:spcBef>
            </a:pPr>
            <a:r>
              <a:rPr lang="en-US" sz="4421" b="1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SARTHAK JAGDALE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81384" y="3113711"/>
            <a:ext cx="5090623" cy="122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5"/>
              </a:lnSpc>
              <a:spcBef>
                <a:spcPct val="0"/>
              </a:spcBef>
            </a:pPr>
            <a:r>
              <a:rPr lang="en-US" sz="4350" b="1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VIPUL SINGH </a:t>
            </a:r>
          </a:p>
          <a:p>
            <a:pPr algn="ctr">
              <a:lnSpc>
                <a:spcPts val="4785"/>
              </a:lnSpc>
              <a:spcBef>
                <a:spcPct val="0"/>
              </a:spcBef>
            </a:pPr>
            <a:endParaRPr lang="en-US" sz="4350" b="1">
              <a:solidFill>
                <a:srgbClr val="000000"/>
              </a:solidFill>
              <a:latin typeface="Georgia Pro Condensed Bold"/>
              <a:ea typeface="Georgia Pro Condensed Bold"/>
              <a:cs typeface="Georgia Pro Condensed Bold"/>
              <a:sym typeface="Georgia Pro Condense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14273" y="5927152"/>
            <a:ext cx="5762041" cy="1296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5"/>
              </a:lnSpc>
              <a:spcBef>
                <a:spcPct val="0"/>
              </a:spcBef>
            </a:pPr>
            <a:r>
              <a:rPr lang="en-US" sz="4605" b="1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RAVI KUMAR</a:t>
            </a:r>
          </a:p>
          <a:p>
            <a:pPr algn="ctr">
              <a:lnSpc>
                <a:spcPts val="5065"/>
              </a:lnSpc>
              <a:spcBef>
                <a:spcPct val="0"/>
              </a:spcBef>
            </a:pPr>
            <a:endParaRPr lang="en-US" sz="4605" b="1">
              <a:solidFill>
                <a:srgbClr val="000000"/>
              </a:solidFill>
              <a:latin typeface="Georgia Pro Condensed Bold"/>
              <a:ea typeface="Georgia Pro Condensed Bold"/>
              <a:cs typeface="Georgia Pro Condensed Bold"/>
              <a:sym typeface="Georgia Pro Condense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84577" y="5917627"/>
            <a:ext cx="5387431" cy="1305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sz="4575" b="1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AKSHAT JHA</a:t>
            </a:r>
          </a:p>
          <a:p>
            <a:pPr algn="ctr">
              <a:lnSpc>
                <a:spcPts val="5033"/>
              </a:lnSpc>
              <a:spcBef>
                <a:spcPct val="0"/>
              </a:spcBef>
            </a:pPr>
            <a:endParaRPr lang="en-US" sz="4575" b="1">
              <a:solidFill>
                <a:srgbClr val="000000"/>
              </a:solidFill>
              <a:latin typeface="Georgia Pro Condensed Bold"/>
              <a:ea typeface="Georgia Pro Condensed Bold"/>
              <a:cs typeface="Georgia Pro Condensed Bold"/>
              <a:sym typeface="Georgia Pro Condensed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5151565" y="8418615"/>
            <a:ext cx="7448564" cy="1354284"/>
          </a:xfrm>
          <a:custGeom>
            <a:avLst/>
            <a:gdLst/>
            <a:ahLst/>
            <a:cxnLst/>
            <a:rect l="l" t="t" r="r" b="b"/>
            <a:pathLst>
              <a:path w="7448564" h="1354284">
                <a:moveTo>
                  <a:pt x="0" y="0"/>
                </a:moveTo>
                <a:lnTo>
                  <a:pt x="7448564" y="0"/>
                </a:lnTo>
                <a:lnTo>
                  <a:pt x="7448564" y="1354285"/>
                </a:lnTo>
                <a:lnTo>
                  <a:pt x="0" y="1354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20301" y="8804622"/>
            <a:ext cx="5979828" cy="122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30"/>
              </a:lnSpc>
              <a:spcBef>
                <a:spcPct val="0"/>
              </a:spcBef>
            </a:pPr>
            <a:r>
              <a:rPr lang="en-US" sz="4300" b="1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Mentor: Dr. Rinky Sha</a:t>
            </a:r>
          </a:p>
          <a:p>
            <a:pPr algn="ctr">
              <a:lnSpc>
                <a:spcPts val="4730"/>
              </a:lnSpc>
              <a:spcBef>
                <a:spcPct val="0"/>
              </a:spcBef>
            </a:pPr>
            <a:endParaRPr lang="en-US" sz="4300" b="1">
              <a:solidFill>
                <a:srgbClr val="000000"/>
              </a:solidFill>
              <a:latin typeface="Georgia Pro Condensed Bold"/>
              <a:ea typeface="Georgia Pro Condensed Bold"/>
              <a:cs typeface="Georgia Pro Condensed Bold"/>
              <a:sym typeface="Georgia Pro Condense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5165" y="2873070"/>
            <a:ext cx="1309475" cy="81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1187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72710" y="2851796"/>
            <a:ext cx="1416312" cy="81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1196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346" y="5803327"/>
            <a:ext cx="1556126" cy="81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1180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43123" y="5784277"/>
            <a:ext cx="1460961" cy="825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66750" y="9625012"/>
            <a:ext cx="16954500" cy="0"/>
          </a:xfrm>
          <a:prstGeom prst="line">
            <a:avLst/>
          </a:prstGeom>
          <a:ln w="9525" cap="flat">
            <a:solidFill>
              <a:srgbClr val="E0E9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7450494"/>
            <a:ext cx="1807806" cy="1807806"/>
          </a:xfrm>
          <a:custGeom>
            <a:avLst/>
            <a:gdLst/>
            <a:ahLst/>
            <a:cxnLst/>
            <a:rect l="l" t="t" r="r" b="b"/>
            <a:pathLst>
              <a:path w="1807806" h="1807806">
                <a:moveTo>
                  <a:pt x="0" y="0"/>
                </a:moveTo>
                <a:lnTo>
                  <a:pt x="1807806" y="0"/>
                </a:lnTo>
                <a:lnTo>
                  <a:pt x="1807806" y="1807806"/>
                </a:lnTo>
                <a:lnTo>
                  <a:pt x="0" y="1807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2328822" y="1212532"/>
            <a:ext cx="4652841" cy="8045767"/>
            <a:chOff x="0" y="0"/>
            <a:chExt cx="887207" cy="15341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7207" cy="1534173"/>
            </a:xfrm>
            <a:custGeom>
              <a:avLst/>
              <a:gdLst/>
              <a:ahLst/>
              <a:cxnLst/>
              <a:rect l="l" t="t" r="r" b="b"/>
              <a:pathLst>
                <a:path w="887207" h="1534173">
                  <a:moveTo>
                    <a:pt x="0" y="0"/>
                  </a:moveTo>
                  <a:lnTo>
                    <a:pt x="887207" y="0"/>
                  </a:lnTo>
                  <a:lnTo>
                    <a:pt x="887207" y="1534173"/>
                  </a:lnTo>
                  <a:lnTo>
                    <a:pt x="0" y="1534173"/>
                  </a:lnTo>
                  <a:close/>
                </a:path>
              </a:pathLst>
            </a:custGeom>
            <a:blipFill>
              <a:blip r:embed="rId3"/>
              <a:stretch>
                <a:fillRect t="-177" b="-177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723900"/>
            <a:ext cx="1120140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1788783" y="159682"/>
            <a:ext cx="11201400" cy="156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</p:txBody>
      </p:sp>
      <p:sp>
        <p:nvSpPr>
          <p:cNvPr id="8" name="Freeform 8"/>
          <p:cNvSpPr/>
          <p:nvPr/>
        </p:nvSpPr>
        <p:spPr>
          <a:xfrm>
            <a:off x="3238760" y="4276120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38760" y="4951275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38760" y="5701150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238760" y="6451025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238760" y="7200900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238760" y="2852570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238760" y="3526245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66750" y="2775110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469095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CARDIAC ARREST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50" y="4218970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UNIQUENESS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1914" y="4933265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914" y="5663570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7078" y="6393875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70653" y="7123440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&amp;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666750" y="9625012"/>
            <a:ext cx="5753100" cy="0"/>
          </a:xfrm>
          <a:prstGeom prst="line">
            <a:avLst/>
          </a:prstGeom>
          <a:ln w="9525" cap="flat">
            <a:solidFill>
              <a:srgbClr val="E0E9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2398022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5" y="0"/>
                </a:lnTo>
                <a:lnTo>
                  <a:pt x="589835" y="549082"/>
                </a:lnTo>
                <a:lnTo>
                  <a:pt x="0" y="549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3783" y="4512239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4" y="0"/>
                </a:lnTo>
                <a:lnTo>
                  <a:pt x="589834" y="549082"/>
                </a:lnTo>
                <a:lnTo>
                  <a:pt x="0" y="549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33783" y="5720644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4" y="0"/>
                </a:lnTo>
                <a:lnTo>
                  <a:pt x="589834" y="549082"/>
                </a:lnTo>
                <a:lnTo>
                  <a:pt x="0" y="549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33783" y="8153265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4" y="0"/>
                </a:lnTo>
                <a:lnTo>
                  <a:pt x="589834" y="549082"/>
                </a:lnTo>
                <a:lnTo>
                  <a:pt x="0" y="549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6871899"/>
            <a:ext cx="9475629" cy="102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 70% cases occur outside hospitals</a:t>
            </a:r>
          </a:p>
          <a:p>
            <a:pPr algn="ctr">
              <a:lnSpc>
                <a:spcPts val="4115"/>
              </a:lnSpc>
            </a:pPr>
            <a:endParaRPr lang="en-US" sz="293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733783" y="6864892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4" y="0"/>
                </a:lnTo>
                <a:lnTo>
                  <a:pt x="589834" y="549083"/>
                </a:lnTo>
                <a:lnTo>
                  <a:pt x="0" y="549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49271" y="2427254"/>
            <a:ext cx="5308060" cy="6356958"/>
          </a:xfrm>
          <a:custGeom>
            <a:avLst/>
            <a:gdLst/>
            <a:ahLst/>
            <a:cxnLst/>
            <a:rect l="l" t="t" r="r" b="b"/>
            <a:pathLst>
              <a:path w="5308060" h="6356958">
                <a:moveTo>
                  <a:pt x="0" y="0"/>
                </a:moveTo>
                <a:lnTo>
                  <a:pt x="5308060" y="0"/>
                </a:lnTo>
                <a:lnTo>
                  <a:pt x="530806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84614"/>
            <a:ext cx="15997794" cy="247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4"/>
              </a:lnSpc>
            </a:pPr>
            <a:r>
              <a:rPr lang="en-US" sz="70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 FOR THIS PROJECT</a:t>
            </a:r>
          </a:p>
          <a:p>
            <a:pPr algn="ctr">
              <a:lnSpc>
                <a:spcPts val="9924"/>
              </a:lnSpc>
            </a:pPr>
            <a:endParaRPr lang="en-US" sz="708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4765" y="4455089"/>
            <a:ext cx="9475629" cy="102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India, 1 out of 4 deaths is related to heart diseases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4765" y="2370104"/>
            <a:ext cx="9475629" cy="15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motivation for choosing this project is to apply Machine Learning and Deep Learning to a meaningful, real-world healthcare problem.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3783" y="8146858"/>
            <a:ext cx="947562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helps in early risk identification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2035" y="5597247"/>
            <a:ext cx="9475629" cy="102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Cardiac arrest causes ~7 million deaths globally every 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499480" y="10087765"/>
            <a:ext cx="5753100" cy="0"/>
          </a:xfrm>
          <a:prstGeom prst="line">
            <a:avLst/>
          </a:prstGeom>
          <a:ln w="9525" cap="flat">
            <a:solidFill>
              <a:srgbClr val="E0E9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2151232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5" y="0"/>
                </a:lnTo>
                <a:lnTo>
                  <a:pt x="589835" y="549082"/>
                </a:lnTo>
                <a:lnTo>
                  <a:pt x="0" y="549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66750" y="3323732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5" y="0"/>
                </a:lnTo>
                <a:lnTo>
                  <a:pt x="589835" y="549082"/>
                </a:lnTo>
                <a:lnTo>
                  <a:pt x="0" y="549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6750" y="6145627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5" y="0"/>
                </a:lnTo>
                <a:lnTo>
                  <a:pt x="589835" y="549082"/>
                </a:lnTo>
                <a:lnTo>
                  <a:pt x="0" y="549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6750" y="4420073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5" y="0"/>
                </a:lnTo>
                <a:lnTo>
                  <a:pt x="589835" y="549083"/>
                </a:lnTo>
                <a:lnTo>
                  <a:pt x="0" y="549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56585" y="6088477"/>
            <a:ext cx="9342744" cy="154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"Every minute without CPR reduces survival chances by approximately 10%, making bystander response the most critical factor in saving a life."</a:t>
            </a:r>
          </a:p>
        </p:txBody>
      </p:sp>
      <p:sp>
        <p:nvSpPr>
          <p:cNvPr id="8" name="Freeform 8"/>
          <p:cNvSpPr/>
          <p:nvPr/>
        </p:nvSpPr>
        <p:spPr>
          <a:xfrm>
            <a:off x="666750" y="8287759"/>
            <a:ext cx="589835" cy="549083"/>
          </a:xfrm>
          <a:custGeom>
            <a:avLst/>
            <a:gdLst/>
            <a:ahLst/>
            <a:cxnLst/>
            <a:rect l="l" t="t" r="r" b="b"/>
            <a:pathLst>
              <a:path w="589835" h="549083">
                <a:moveTo>
                  <a:pt x="0" y="0"/>
                </a:moveTo>
                <a:lnTo>
                  <a:pt x="589835" y="0"/>
                </a:lnTo>
                <a:lnTo>
                  <a:pt x="589835" y="549083"/>
                </a:lnTo>
                <a:lnTo>
                  <a:pt x="0" y="549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066091" y="2398022"/>
            <a:ext cx="9376598" cy="6401206"/>
          </a:xfrm>
          <a:custGeom>
            <a:avLst/>
            <a:gdLst/>
            <a:ahLst/>
            <a:cxnLst/>
            <a:rect l="l" t="t" r="r" b="b"/>
            <a:pathLst>
              <a:path w="9376598" h="6401206">
                <a:moveTo>
                  <a:pt x="0" y="0"/>
                </a:moveTo>
                <a:lnTo>
                  <a:pt x="9376598" y="0"/>
                </a:lnTo>
                <a:lnTo>
                  <a:pt x="9376598" y="6401205"/>
                </a:lnTo>
                <a:lnTo>
                  <a:pt x="0" y="6401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94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84614"/>
            <a:ext cx="15997794" cy="121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4"/>
              </a:lnSpc>
            </a:pPr>
            <a:r>
              <a:rPr lang="en-US" sz="70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CARDIAC ARREST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5759" y="3195614"/>
            <a:ext cx="9642899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Stops blood circulation immediately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6918" y="2104792"/>
            <a:ext cx="9842048" cy="504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Sudden failure of heart’s electrical activity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6585" y="4201817"/>
            <a:ext cx="9494560" cy="1487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9"/>
              </a:lnSpc>
            </a:pPr>
            <a:r>
              <a:rPr lang="en-US" sz="283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"Ventricular fibrillation — a chaotic, disorganized electrical rhythm — is the most common cause of sudden cardiac arrest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2855" y="8230609"/>
            <a:ext cx="8630175" cy="14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4"/>
              </a:lnSpc>
            </a:pPr>
            <a:r>
              <a:rPr lang="en-US" sz="2881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"Unlike a heart attack, cardiac arrest strikes without warning and becomes fatal within minutes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2440" y="9959552"/>
            <a:ext cx="16954500" cy="0"/>
          </a:xfrm>
          <a:prstGeom prst="line">
            <a:avLst/>
          </a:prstGeom>
          <a:ln w="9525" cap="flat">
            <a:solidFill>
              <a:srgbClr val="E0E9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8740541"/>
            <a:ext cx="1035518" cy="1035518"/>
          </a:xfrm>
          <a:custGeom>
            <a:avLst/>
            <a:gdLst/>
            <a:ahLst/>
            <a:cxnLst/>
            <a:rect l="l" t="t" r="r" b="b"/>
            <a:pathLst>
              <a:path w="1035518" h="1035518">
                <a:moveTo>
                  <a:pt x="0" y="0"/>
                </a:moveTo>
                <a:lnTo>
                  <a:pt x="1035518" y="0"/>
                </a:lnTo>
                <a:lnTo>
                  <a:pt x="1035518" y="1035518"/>
                </a:lnTo>
                <a:lnTo>
                  <a:pt x="0" y="10355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66656" y="4007392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66656" y="5234531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6656" y="7542496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66656" y="2614946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3036" y="6317781"/>
            <a:ext cx="10809083" cy="51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5"/>
              </a:lnSpc>
            </a:pPr>
            <a:r>
              <a:rPr lang="en-US" sz="3032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Visualization: Matplotlib, Seaborn</a:t>
            </a:r>
          </a:p>
        </p:txBody>
      </p:sp>
      <p:sp>
        <p:nvSpPr>
          <p:cNvPr id="9" name="Freeform 9"/>
          <p:cNvSpPr/>
          <p:nvPr/>
        </p:nvSpPr>
        <p:spPr>
          <a:xfrm>
            <a:off x="1366656" y="6374931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868150" y="1836894"/>
            <a:ext cx="5401686" cy="7202248"/>
          </a:xfrm>
          <a:custGeom>
            <a:avLst/>
            <a:gdLst/>
            <a:ahLst/>
            <a:cxnLst/>
            <a:rect l="l" t="t" r="r" b="b"/>
            <a:pathLst>
              <a:path w="5401686" h="7202248">
                <a:moveTo>
                  <a:pt x="0" y="0"/>
                </a:moveTo>
                <a:lnTo>
                  <a:pt x="5401686" y="0"/>
                </a:lnTo>
                <a:lnTo>
                  <a:pt x="5401686" y="7202249"/>
                </a:lnTo>
                <a:lnTo>
                  <a:pt x="0" y="720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66750" y="723900"/>
            <a:ext cx="1120140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532440" y="-33103"/>
            <a:ext cx="17223120" cy="156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Used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997773" y="2503414"/>
            <a:ext cx="14579229" cy="545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9"/>
              </a:lnSpc>
            </a:pPr>
            <a:r>
              <a:rPr lang="en-US" sz="3206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for implementation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032360" y="3903506"/>
            <a:ext cx="14599620" cy="51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</a:pPr>
            <a:r>
              <a:rPr lang="en-US" sz="297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 Models (LR / RF / SVM)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750" y="5086350"/>
            <a:ext cx="10809083" cy="51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5"/>
              </a:lnSpc>
            </a:pPr>
            <a:r>
              <a:rPr lang="en-US" sz="3032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Libraries: NumPy, Pandas, Scikit-learn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1032360" y="7451504"/>
            <a:ext cx="9911923" cy="497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2"/>
              </a:lnSpc>
            </a:pPr>
            <a:r>
              <a:rPr lang="en-US" sz="2894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: Kaggle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2440" y="9959552"/>
            <a:ext cx="16954500" cy="0"/>
          </a:xfrm>
          <a:prstGeom prst="line">
            <a:avLst/>
          </a:prstGeom>
          <a:ln w="9525" cap="flat">
            <a:solidFill>
              <a:srgbClr val="E0E9F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8740541"/>
            <a:ext cx="1035518" cy="1035518"/>
          </a:xfrm>
          <a:custGeom>
            <a:avLst/>
            <a:gdLst/>
            <a:ahLst/>
            <a:cxnLst/>
            <a:rect l="l" t="t" r="r" b="b"/>
            <a:pathLst>
              <a:path w="1035518" h="1035518">
                <a:moveTo>
                  <a:pt x="0" y="0"/>
                </a:moveTo>
                <a:lnTo>
                  <a:pt x="1035518" y="0"/>
                </a:lnTo>
                <a:lnTo>
                  <a:pt x="1035518" y="1035518"/>
                </a:lnTo>
                <a:lnTo>
                  <a:pt x="0" y="10355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66656" y="4007392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66656" y="5234531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6656" y="7542496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66656" y="2614946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395165" y="2559373"/>
            <a:ext cx="6091775" cy="6091775"/>
          </a:xfrm>
          <a:custGeom>
            <a:avLst/>
            <a:gdLst/>
            <a:ahLst/>
            <a:cxnLst/>
            <a:rect l="l" t="t" r="r" b="b"/>
            <a:pathLst>
              <a:path w="6091775" h="6091775">
                <a:moveTo>
                  <a:pt x="0" y="0"/>
                </a:moveTo>
                <a:lnTo>
                  <a:pt x="6091775" y="0"/>
                </a:lnTo>
                <a:lnTo>
                  <a:pt x="6091775" y="6091775"/>
                </a:lnTo>
                <a:lnTo>
                  <a:pt x="0" y="6091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66750" y="723900"/>
            <a:ext cx="11201400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532440" y="-33103"/>
            <a:ext cx="17223120" cy="156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Makes It Unique?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997773" y="2503414"/>
            <a:ext cx="14579229" cy="545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9"/>
              </a:lnSpc>
            </a:pPr>
            <a:r>
              <a:rPr lang="en-US" sz="3206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Early-stage risk prediction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1032360" y="3903506"/>
            <a:ext cx="14599620" cy="51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</a:pPr>
            <a:r>
              <a:rPr lang="en-US" sz="297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Multi-parameter data-driven approach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2440" y="5086350"/>
            <a:ext cx="10809083" cy="51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5"/>
              </a:lnSpc>
            </a:pPr>
            <a:r>
              <a:rPr lang="en-US" sz="3032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accuracy with ML algorithms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380830" y="7451504"/>
            <a:ext cx="9911923" cy="497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2"/>
              </a:lnSpc>
            </a:pPr>
            <a:r>
              <a:rPr lang="en-US" sz="2894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human error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3036" y="6201033"/>
            <a:ext cx="10809083" cy="518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5"/>
              </a:lnSpc>
            </a:pPr>
            <a:r>
              <a:rPr lang="en-US" sz="3032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clinical decision-making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66656" y="6374931"/>
            <a:ext cx="407995" cy="406975"/>
          </a:xfrm>
          <a:custGeom>
            <a:avLst/>
            <a:gdLst/>
            <a:ahLst/>
            <a:cxnLst/>
            <a:rect l="l" t="t" r="r" b="b"/>
            <a:pathLst>
              <a:path w="407995" h="406975">
                <a:moveTo>
                  <a:pt x="0" y="0"/>
                </a:moveTo>
                <a:lnTo>
                  <a:pt x="407995" y="0"/>
                </a:lnTo>
                <a:lnTo>
                  <a:pt x="407995" y="406975"/>
                </a:lnTo>
                <a:lnTo>
                  <a:pt x="0" y="40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53180" y="742811"/>
            <a:ext cx="8200358" cy="8801379"/>
          </a:xfrm>
          <a:custGeom>
            <a:avLst/>
            <a:gdLst/>
            <a:ahLst/>
            <a:cxnLst/>
            <a:rect l="l" t="t" r="r" b="b"/>
            <a:pathLst>
              <a:path w="8200358" h="8801379">
                <a:moveTo>
                  <a:pt x="0" y="0"/>
                </a:moveTo>
                <a:lnTo>
                  <a:pt x="8200358" y="0"/>
                </a:lnTo>
                <a:lnTo>
                  <a:pt x="8200358" y="8801378"/>
                </a:lnTo>
                <a:lnTo>
                  <a:pt x="0" y="8801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438" b="-283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80258" y="4722144"/>
            <a:ext cx="8286793" cy="75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7"/>
              </a:lnSpc>
            </a:pPr>
            <a:r>
              <a:rPr lang="en-US" sz="4426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</a:t>
            </a:r>
          </a:p>
        </p:txBody>
      </p:sp>
      <p:sp>
        <p:nvSpPr>
          <p:cNvPr id="4" name="Freeform 4"/>
          <p:cNvSpPr/>
          <p:nvPr/>
        </p:nvSpPr>
        <p:spPr>
          <a:xfrm>
            <a:off x="688132" y="4807869"/>
            <a:ext cx="681137" cy="679434"/>
          </a:xfrm>
          <a:custGeom>
            <a:avLst/>
            <a:gdLst/>
            <a:ahLst/>
            <a:cxnLst/>
            <a:rect l="l" t="t" r="r" b="b"/>
            <a:pathLst>
              <a:path w="681137" h="679434">
                <a:moveTo>
                  <a:pt x="0" y="0"/>
                </a:moveTo>
                <a:lnTo>
                  <a:pt x="681136" y="0"/>
                </a:lnTo>
                <a:lnTo>
                  <a:pt x="681136" y="679434"/>
                </a:lnTo>
                <a:lnTo>
                  <a:pt x="0" y="679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77362" y="1913667"/>
            <a:ext cx="13933276" cy="8033990"/>
          </a:xfrm>
          <a:custGeom>
            <a:avLst/>
            <a:gdLst/>
            <a:ahLst/>
            <a:cxnLst/>
            <a:rect l="l" t="t" r="r" b="b"/>
            <a:pathLst>
              <a:path w="13933276" h="8033990">
                <a:moveTo>
                  <a:pt x="0" y="0"/>
                </a:moveTo>
                <a:lnTo>
                  <a:pt x="13933276" y="0"/>
                </a:lnTo>
                <a:lnTo>
                  <a:pt x="13933276" y="8033990"/>
                </a:lnTo>
                <a:lnTo>
                  <a:pt x="0" y="8033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2440" y="-33103"/>
            <a:ext cx="17223120" cy="156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</a:t>
            </a:r>
          </a:p>
        </p:txBody>
      </p:sp>
      <p:sp>
        <p:nvSpPr>
          <p:cNvPr id="4" name="Freeform 4"/>
          <p:cNvSpPr/>
          <p:nvPr/>
        </p:nvSpPr>
        <p:spPr>
          <a:xfrm>
            <a:off x="4353367" y="385387"/>
            <a:ext cx="903314" cy="901056"/>
          </a:xfrm>
          <a:custGeom>
            <a:avLst/>
            <a:gdLst/>
            <a:ahLst/>
            <a:cxnLst/>
            <a:rect l="l" t="t" r="r" b="b"/>
            <a:pathLst>
              <a:path w="903314" h="901056">
                <a:moveTo>
                  <a:pt x="0" y="0"/>
                </a:moveTo>
                <a:lnTo>
                  <a:pt x="903314" y="0"/>
                </a:lnTo>
                <a:lnTo>
                  <a:pt x="903314" y="901056"/>
                </a:lnTo>
                <a:lnTo>
                  <a:pt x="0" y="901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91175" y="0"/>
            <a:ext cx="6519411" cy="10287000"/>
          </a:xfrm>
          <a:custGeom>
            <a:avLst/>
            <a:gdLst/>
            <a:ahLst/>
            <a:cxnLst/>
            <a:rect l="l" t="t" r="r" b="b"/>
            <a:pathLst>
              <a:path w="6519411" h="10287000">
                <a:moveTo>
                  <a:pt x="0" y="0"/>
                </a:moveTo>
                <a:lnTo>
                  <a:pt x="6519411" y="0"/>
                </a:lnTo>
                <a:lnTo>
                  <a:pt x="65194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1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42701" y="0"/>
            <a:ext cx="12084581" cy="10287000"/>
          </a:xfrm>
          <a:custGeom>
            <a:avLst/>
            <a:gdLst/>
            <a:ahLst/>
            <a:cxnLst/>
            <a:rect l="l" t="t" r="r" b="b"/>
            <a:pathLst>
              <a:path w="12084581" h="10287000">
                <a:moveTo>
                  <a:pt x="0" y="0"/>
                </a:moveTo>
                <a:lnTo>
                  <a:pt x="12084581" y="0"/>
                </a:lnTo>
                <a:lnTo>
                  <a:pt x="120845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678561"/>
            <a:ext cx="5642701" cy="2825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Correlation Heatmap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47267" y="3947917"/>
            <a:ext cx="14676389" cy="134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75"/>
              </a:lnSpc>
            </a:pPr>
            <a:r>
              <a:rPr lang="en-US" sz="783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</a:t>
            </a:r>
          </a:p>
        </p:txBody>
      </p:sp>
      <p:sp>
        <p:nvSpPr>
          <p:cNvPr id="3" name="Freeform 3"/>
          <p:cNvSpPr/>
          <p:nvPr/>
        </p:nvSpPr>
        <p:spPr>
          <a:xfrm>
            <a:off x="5820146" y="4245976"/>
            <a:ext cx="899773" cy="897524"/>
          </a:xfrm>
          <a:custGeom>
            <a:avLst/>
            <a:gdLst/>
            <a:ahLst/>
            <a:cxnLst/>
            <a:rect l="l" t="t" r="r" b="b"/>
            <a:pathLst>
              <a:path w="899773" h="897524">
                <a:moveTo>
                  <a:pt x="0" y="0"/>
                </a:moveTo>
                <a:lnTo>
                  <a:pt x="899773" y="0"/>
                </a:lnTo>
                <a:lnTo>
                  <a:pt x="899773" y="897524"/>
                </a:lnTo>
                <a:lnTo>
                  <a:pt x="0" y="897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4470" y="6193371"/>
            <a:ext cx="17801606" cy="2806318"/>
          </a:xfrm>
          <a:custGeom>
            <a:avLst/>
            <a:gdLst/>
            <a:ahLst/>
            <a:cxnLst/>
            <a:rect l="l" t="t" r="r" b="b"/>
            <a:pathLst>
              <a:path w="17801606" h="2806318">
                <a:moveTo>
                  <a:pt x="0" y="0"/>
                </a:moveTo>
                <a:lnTo>
                  <a:pt x="17801606" y="0"/>
                </a:lnTo>
                <a:lnTo>
                  <a:pt x="17801606" y="2806317"/>
                </a:lnTo>
                <a:lnTo>
                  <a:pt x="0" y="280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6" r="-9401" b="-176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67662" y="1355062"/>
            <a:ext cx="15104261" cy="359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dataset comprises information from </a:t>
            </a:r>
            <a:r>
              <a:rPr lang="en-US" sz="4099" b="1">
                <a:solidFill>
                  <a:srgbClr val="FECB3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253,662 </a:t>
            </a:r>
            <a:r>
              <a:rPr lang="en-US" sz="40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individuals.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includes parameters like high BP, high cholesterol, cholesterol check, BMI, Stroke, Diabetes, gender, age, health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47267" y="3947917"/>
            <a:ext cx="14676389" cy="134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75"/>
              </a:lnSpc>
            </a:pPr>
            <a:r>
              <a:rPr lang="en-US" sz="783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id="3" name="Freeform 3"/>
          <p:cNvSpPr/>
          <p:nvPr/>
        </p:nvSpPr>
        <p:spPr>
          <a:xfrm>
            <a:off x="5753778" y="4245976"/>
            <a:ext cx="899773" cy="897524"/>
          </a:xfrm>
          <a:custGeom>
            <a:avLst/>
            <a:gdLst/>
            <a:ahLst/>
            <a:cxnLst/>
            <a:rect l="l" t="t" r="r" b="b"/>
            <a:pathLst>
              <a:path w="899773" h="897524">
                <a:moveTo>
                  <a:pt x="0" y="0"/>
                </a:moveTo>
                <a:lnTo>
                  <a:pt x="899773" y="0"/>
                </a:lnTo>
                <a:lnTo>
                  <a:pt x="899773" y="897524"/>
                </a:lnTo>
                <a:lnTo>
                  <a:pt x="0" y="897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72771" y="3815912"/>
            <a:ext cx="10622003" cy="3546549"/>
          </a:xfrm>
          <a:custGeom>
            <a:avLst/>
            <a:gdLst/>
            <a:ahLst/>
            <a:cxnLst/>
            <a:rect l="l" t="t" r="r" b="b"/>
            <a:pathLst>
              <a:path w="10622003" h="3546549">
                <a:moveTo>
                  <a:pt x="0" y="0"/>
                </a:moveTo>
                <a:lnTo>
                  <a:pt x="10622003" y="0"/>
                </a:lnTo>
                <a:lnTo>
                  <a:pt x="10622003" y="3546549"/>
                </a:lnTo>
                <a:lnTo>
                  <a:pt x="0" y="354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06689" y="723392"/>
            <a:ext cx="11474622" cy="21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1"/>
              </a:lnSpc>
            </a:pPr>
            <a:r>
              <a:rPr lang="en-US" sz="612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Logistic Regression 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3745" y="3735447"/>
            <a:ext cx="7209026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 is a supervised machine learning algorithm used for binary classification problems, such as predicting the presence or absence of heart disease.</a:t>
            </a:r>
          </a:p>
          <a:p>
            <a:pPr marL="604519" lvl="1" indent="-302260" algn="ctr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estimates the probability of a class using a sigmoid function and outputs results between 0 and 1 for decision making.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E0E9F3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9452" y="3617666"/>
            <a:ext cx="9518548" cy="3695436"/>
          </a:xfrm>
          <a:custGeom>
            <a:avLst/>
            <a:gdLst/>
            <a:ahLst/>
            <a:cxnLst/>
            <a:rect l="l" t="t" r="r" b="b"/>
            <a:pathLst>
              <a:path w="9518548" h="3695436">
                <a:moveTo>
                  <a:pt x="0" y="0"/>
                </a:moveTo>
                <a:lnTo>
                  <a:pt x="9518548" y="0"/>
                </a:lnTo>
                <a:lnTo>
                  <a:pt x="9518548" y="3695437"/>
                </a:lnTo>
                <a:lnTo>
                  <a:pt x="0" y="3695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15420" y="449608"/>
            <a:ext cx="13054980" cy="1950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5585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LightGBM (Light Gradient Boosting Machine), along with SMOTE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773422"/>
            <a:ext cx="8769452" cy="301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906" lvl="1" indent="-264953" algn="ctr">
              <a:lnSpc>
                <a:spcPts val="3436"/>
              </a:lnSpc>
              <a:spcBef>
                <a:spcPct val="0"/>
              </a:spcBef>
              <a:buFont typeface="Arial"/>
              <a:buChar char="•"/>
            </a:pPr>
            <a:r>
              <a:rPr lang="en-US" sz="2454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LightGBM is a gradient boosting algorithm that builds multiple decision trees sequentially to improve prediction accuracy and handle large datasets efficiently.</a:t>
            </a:r>
          </a:p>
          <a:p>
            <a:pPr marL="529906" lvl="1" indent="-264953" algn="ctr">
              <a:lnSpc>
                <a:spcPts val="3436"/>
              </a:lnSpc>
              <a:spcBef>
                <a:spcPct val="0"/>
              </a:spcBef>
              <a:buFont typeface="Arial"/>
              <a:buChar char="•"/>
            </a:pPr>
            <a:r>
              <a:rPr lang="en-US" sz="2454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SMOTE (Synthetic Minority Oversampling Technique) is used to balance imbalanced data by generating synthetic samples for the minority class.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18623" y="3441936"/>
            <a:ext cx="10569377" cy="3857215"/>
          </a:xfrm>
          <a:custGeom>
            <a:avLst/>
            <a:gdLst/>
            <a:ahLst/>
            <a:cxnLst/>
            <a:rect l="l" t="t" r="r" b="b"/>
            <a:pathLst>
              <a:path w="10569377" h="3857215">
                <a:moveTo>
                  <a:pt x="0" y="0"/>
                </a:moveTo>
                <a:lnTo>
                  <a:pt x="10569377" y="0"/>
                </a:lnTo>
                <a:lnTo>
                  <a:pt x="10569377" y="3857215"/>
                </a:lnTo>
                <a:lnTo>
                  <a:pt x="0" y="3857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0175" y="904875"/>
            <a:ext cx="17387649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 Classifier, along with SMOTE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368514"/>
            <a:ext cx="7718623" cy="444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 is an ensemble learning algorithm that builds multiple decision trees and combines their outputs to improve accuracy and reduce overfitting.</a:t>
            </a:r>
          </a:p>
          <a:p>
            <a:pPr marL="604519" lvl="1" indent="-302260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SMOTE is used to balance the dataset by generating synthetic samples for the minority class, improving model performance on imbalanced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89917" y="3739972"/>
            <a:ext cx="10698083" cy="3726583"/>
          </a:xfrm>
          <a:custGeom>
            <a:avLst/>
            <a:gdLst/>
            <a:ahLst/>
            <a:cxnLst/>
            <a:rect l="l" t="t" r="r" b="b"/>
            <a:pathLst>
              <a:path w="10698083" h="3726583">
                <a:moveTo>
                  <a:pt x="0" y="0"/>
                </a:moveTo>
                <a:lnTo>
                  <a:pt x="10698083" y="0"/>
                </a:lnTo>
                <a:lnTo>
                  <a:pt x="10698083" y="3726583"/>
                </a:lnTo>
                <a:lnTo>
                  <a:pt x="0" y="372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678" y="482733"/>
            <a:ext cx="13990916" cy="1343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75"/>
              </a:lnSpc>
              <a:spcBef>
                <a:spcPct val="0"/>
              </a:spcBef>
            </a:pPr>
            <a:r>
              <a:rPr lang="en-US" sz="783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 (Gradient Boosting)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3682822"/>
            <a:ext cx="7589917" cy="394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 is an advanced gradient boosting algorithm that builds optimized decision trees sequentially to achieve high accuracy and speed.</a:t>
            </a:r>
          </a:p>
          <a:p>
            <a:pPr marL="604519" lvl="1" indent="-302260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SMOTE is applied to balance the dataset by generating synthetic samples for the minority class, improving classification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22779" y="6586000"/>
            <a:ext cx="9565756" cy="2897058"/>
          </a:xfrm>
          <a:custGeom>
            <a:avLst/>
            <a:gdLst/>
            <a:ahLst/>
            <a:cxnLst/>
            <a:rect l="l" t="t" r="r" b="b"/>
            <a:pathLst>
              <a:path w="9565756" h="2897058">
                <a:moveTo>
                  <a:pt x="0" y="0"/>
                </a:moveTo>
                <a:lnTo>
                  <a:pt x="9565756" y="0"/>
                </a:lnTo>
                <a:lnTo>
                  <a:pt x="9565756" y="2897057"/>
                </a:lnTo>
                <a:lnTo>
                  <a:pt x="0" y="2897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22779" y="3474626"/>
            <a:ext cx="9717617" cy="2819354"/>
          </a:xfrm>
          <a:custGeom>
            <a:avLst/>
            <a:gdLst/>
            <a:ahLst/>
            <a:cxnLst/>
            <a:rect l="l" t="t" r="r" b="b"/>
            <a:pathLst>
              <a:path w="9717617" h="2819354">
                <a:moveTo>
                  <a:pt x="0" y="0"/>
                </a:moveTo>
                <a:lnTo>
                  <a:pt x="9717617" y="0"/>
                </a:lnTo>
                <a:lnTo>
                  <a:pt x="9717617" y="2819354"/>
                </a:lnTo>
                <a:lnTo>
                  <a:pt x="0" y="2819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19" r="-19996" b="-231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0783" y="876300"/>
            <a:ext cx="15286434" cy="1343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75"/>
              </a:lnSpc>
              <a:spcBef>
                <a:spcPct val="0"/>
              </a:spcBef>
            </a:pPr>
            <a:r>
              <a:rPr lang="en-US" sz="783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Neural Network (ANN)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3590798"/>
            <a:ext cx="7906204" cy="444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Neural Network (ANN) is a deep learning model inspired by the human brain, consisting of multiple layers of neurons to learn complex patterns in data.</a:t>
            </a:r>
          </a:p>
          <a:p>
            <a:pPr marL="604519" lvl="1" indent="-302260" algn="ctr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uses activation functions like ReLU and Sigmoid, along with backpropagation, to optimize weights and perform accurate binary classification.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16261"/>
            <a:ext cx="17223120" cy="92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7901" y="1960176"/>
            <a:ext cx="16134760" cy="832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0335" lvl="1" indent="-465167" algn="ctr">
              <a:lnSpc>
                <a:spcPts val="6032"/>
              </a:lnSpc>
              <a:buFont typeface="Arial"/>
              <a:buChar char="•"/>
            </a:pPr>
            <a:r>
              <a:rPr lang="en-US" sz="430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 can significantly improve early detection of cardiac arrest risk</a:t>
            </a:r>
          </a:p>
          <a:p>
            <a:pPr marL="930335" lvl="1" indent="-465167" algn="ctr">
              <a:lnSpc>
                <a:spcPts val="6032"/>
              </a:lnSpc>
              <a:buFont typeface="Arial"/>
              <a:buChar char="•"/>
            </a:pPr>
            <a:r>
              <a:rPr lang="en-US" sz="430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model demonstrated promising accuracy in predicting high-risk patients</a:t>
            </a:r>
          </a:p>
          <a:p>
            <a:pPr marL="930335" lvl="1" indent="-465167" algn="ctr">
              <a:lnSpc>
                <a:spcPts val="6032"/>
              </a:lnSpc>
              <a:buFont typeface="Arial"/>
              <a:buChar char="•"/>
            </a:pPr>
            <a:r>
              <a:rPr lang="en-US" sz="430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Timely prediction can reduce mortality rates and enable faster clinical response</a:t>
            </a:r>
          </a:p>
          <a:p>
            <a:pPr marL="930335" lvl="1" indent="-465167" algn="ctr">
              <a:lnSpc>
                <a:spcPts val="6032"/>
              </a:lnSpc>
              <a:buFont typeface="Arial"/>
              <a:buChar char="•"/>
            </a:pPr>
            <a:r>
              <a:rPr lang="en-US" sz="430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system proves ML has strong potential in life-critical healthcare applications</a:t>
            </a:r>
          </a:p>
          <a:p>
            <a:pPr marL="930335" lvl="1" indent="-465167" algn="ctr">
              <a:lnSpc>
                <a:spcPts val="6032"/>
              </a:lnSpc>
              <a:buFont typeface="Arial"/>
              <a:buChar char="•"/>
            </a:pPr>
            <a:r>
              <a:rPr lang="en-US" sz="4309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With further training and data, the model can be deployed in real-world clinical settings</a:t>
            </a:r>
          </a:p>
          <a:p>
            <a:pPr algn="ctr">
              <a:lnSpc>
                <a:spcPts val="6032"/>
              </a:lnSpc>
            </a:pPr>
            <a:endParaRPr lang="en-US" sz="4309" b="1">
              <a:solidFill>
                <a:srgbClr val="E0E9F3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516261"/>
            <a:ext cx="17223120" cy="92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9809" y="2086113"/>
            <a:ext cx="16024251" cy="7922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4727" lvl="1" indent="-442363" algn="ctr">
              <a:lnSpc>
                <a:spcPts val="5736"/>
              </a:lnSpc>
              <a:buFont typeface="Arial"/>
              <a:buChar char="•"/>
            </a:pPr>
            <a:r>
              <a:rPr lang="en-US" sz="4097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prediction using wearable devices like smartwatches and ECG patches</a:t>
            </a:r>
          </a:p>
          <a:p>
            <a:pPr marL="884727" lvl="1" indent="-442363" algn="ctr">
              <a:lnSpc>
                <a:spcPts val="5736"/>
              </a:lnSpc>
              <a:buFont typeface="Arial"/>
              <a:buChar char="•"/>
            </a:pPr>
            <a:r>
              <a:rPr lang="en-US" sz="4097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Integration with hospital EHR systems for continuous patient monitoring</a:t>
            </a:r>
          </a:p>
          <a:p>
            <a:pPr marL="884727" lvl="1" indent="-442363" algn="ctr">
              <a:lnSpc>
                <a:spcPts val="5736"/>
              </a:lnSpc>
              <a:buFont typeface="Arial"/>
              <a:buChar char="•"/>
            </a:pPr>
            <a:r>
              <a:rPr lang="en-US" sz="4097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learning models (LSTM/CNN) for improved time-series ECG analysis</a:t>
            </a:r>
          </a:p>
          <a:p>
            <a:pPr marL="884727" lvl="1" indent="-442363" algn="ctr">
              <a:lnSpc>
                <a:spcPts val="5736"/>
              </a:lnSpc>
              <a:buFont typeface="Arial"/>
              <a:buChar char="•"/>
            </a:pPr>
            <a:r>
              <a:rPr lang="en-US" sz="4097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Mobile app development for instant risk alerts to patients and doctors</a:t>
            </a:r>
          </a:p>
          <a:p>
            <a:pPr marL="884727" lvl="1" indent="-442363" algn="ctr">
              <a:lnSpc>
                <a:spcPts val="5736"/>
              </a:lnSpc>
              <a:buFont typeface="Arial"/>
              <a:buChar char="•"/>
            </a:pPr>
            <a:r>
              <a:rPr lang="en-US" sz="4097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Federated learning to train models across hospitals without sharing patient data</a:t>
            </a:r>
          </a:p>
          <a:p>
            <a:pPr algn="ctr">
              <a:lnSpc>
                <a:spcPts val="5736"/>
              </a:lnSpc>
            </a:pPr>
            <a:endParaRPr lang="en-US" sz="4097" b="1">
              <a:solidFill>
                <a:srgbClr val="E0E9F3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73297" y="415519"/>
            <a:ext cx="10463048" cy="1102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5"/>
              </a:lnSpc>
            </a:pPr>
            <a:r>
              <a:rPr lang="en-US" sz="6467" b="1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282484" y="6985449"/>
            <a:ext cx="17295140" cy="7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1"/>
              </a:lnSpc>
            </a:pPr>
            <a:r>
              <a:rPr lang="en-US" sz="4165" b="1" u="sng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2" tooltip="https://doi.org/10.1161/CIRCRESAHA.116.304030"/>
              </a:rPr>
              <a:t>https://doi.org/10.1161/CIRCRESAHA.116.304030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5502140" y="1983372"/>
            <a:ext cx="15941540" cy="920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b="1" dirty="0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3048000" y="5439097"/>
            <a:ext cx="11442188" cy="879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36"/>
              </a:lnSpc>
            </a:pPr>
            <a:r>
              <a:rPr lang="en-US" sz="5168" b="1" dirty="0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210238" y="3532125"/>
            <a:ext cx="17295140" cy="7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1"/>
              </a:lnSpc>
            </a:pPr>
            <a:r>
              <a:rPr lang="en-US" sz="4165" b="1" u="sng">
                <a:solidFill>
                  <a:srgbClr val="E0E9F3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3" tooltip="https://github.com/kaggle/docker-python"/>
              </a:rPr>
              <a:t>https://github.com/kaggle/docker-python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661</Words>
  <Application>Microsoft Office PowerPoint</Application>
  <PresentationFormat>Custom</PresentationFormat>
  <Paragraphs>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Arial</vt:lpstr>
      <vt:lpstr>Georgia Pro Condensed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Cardiac Arrest Prediction Using Machine Learning</dc:title>
  <cp:lastModifiedBy>sarthak.jagdale2@outlook.com</cp:lastModifiedBy>
  <cp:revision>7</cp:revision>
  <dcterms:created xsi:type="dcterms:W3CDTF">2006-08-16T00:00:00Z</dcterms:created>
  <dcterms:modified xsi:type="dcterms:W3CDTF">2026-05-11T13:00:21Z</dcterms:modified>
  <dc:identifier>DAHAzZufvrs</dc:identifier>
</cp:coreProperties>
</file>